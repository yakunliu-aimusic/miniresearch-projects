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22" r:id="rId1"/>
  </p:sldMasterIdLst>
  <p:notesMasterIdLst>
    <p:notesMasterId r:id="rId6"/>
  </p:notesMasterIdLst>
  <p:handoutMasterIdLst>
    <p:handoutMasterId r:id="rId7"/>
  </p:handoutMasterIdLst>
  <p:sldIdLst>
    <p:sldId id="293" r:id="rId2"/>
    <p:sldId id="294" r:id="rId3"/>
    <p:sldId id="295" r:id="rId4"/>
    <p:sldId id="296" r:id="rId5"/>
  </p:sldIdLst>
  <p:sldSz cx="6858000" cy="99075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962" userDrawn="1">
          <p15:clr>
            <a:srgbClr val="A4A3A4"/>
          </p15:clr>
        </p15:guide>
        <p15:guide id="2" pos="22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4B6D2"/>
    <a:srgbClr val="8ABE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514" autoAdjust="0"/>
    <p:restoredTop sz="91041" autoAdjust="0"/>
  </p:normalViewPr>
  <p:slideViewPr>
    <p:cSldViewPr snapToGrid="0" showGuides="1">
      <p:cViewPr>
        <p:scale>
          <a:sx n="105" d="100"/>
          <a:sy n="105" d="100"/>
        </p:scale>
        <p:origin x="2936" y="-30808"/>
      </p:cViewPr>
      <p:guideLst>
        <p:guide orient="horz" pos="2962"/>
        <p:guide pos="22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howGuides="1">
      <p:cViewPr varScale="1">
        <p:scale>
          <a:sx n="65" d="100"/>
          <a:sy n="65" d="100"/>
        </p:scale>
        <p:origin x="3077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C313B3C0-E71E-AC85-98D9-DB5C1703001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2AECE34-FD8A-CEA2-670C-9421D36B77A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6789F39-94BB-41BE-BA9D-58A11AD88EC9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DE2ABF7-54AB-B7CC-8168-B5B92F10515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4434C19-AAFA-A585-F07A-0834C0E5904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3A40E0-2BF7-481B-ADBE-F69C083B6C0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6246318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1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7A6C62-9633-4B74-AF81-EACB696A8FD4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60613" y="1143000"/>
            <a:ext cx="21367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55EEC6-2BBC-4056-A021-20F33FAF856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91042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557052" rtl="0" eaLnBrk="1" latinLnBrk="0" hangingPunct="1">
      <a:defRPr sz="731" kern="1200">
        <a:solidFill>
          <a:schemeClr val="tx1"/>
        </a:solidFill>
        <a:latin typeface="+mn-lt"/>
        <a:ea typeface="+mn-ea"/>
        <a:cs typeface="+mn-cs"/>
      </a:defRPr>
    </a:lvl1pPr>
    <a:lvl2pPr marL="278526" algn="l" defTabSz="557052" rtl="0" eaLnBrk="1" latinLnBrk="0" hangingPunct="1">
      <a:defRPr sz="731" kern="1200">
        <a:solidFill>
          <a:schemeClr val="tx1"/>
        </a:solidFill>
        <a:latin typeface="+mn-lt"/>
        <a:ea typeface="+mn-ea"/>
        <a:cs typeface="+mn-cs"/>
      </a:defRPr>
    </a:lvl2pPr>
    <a:lvl3pPr marL="557052" algn="l" defTabSz="557052" rtl="0" eaLnBrk="1" latinLnBrk="0" hangingPunct="1">
      <a:defRPr sz="731" kern="1200">
        <a:solidFill>
          <a:schemeClr val="tx1"/>
        </a:solidFill>
        <a:latin typeface="+mn-lt"/>
        <a:ea typeface="+mn-ea"/>
        <a:cs typeface="+mn-cs"/>
      </a:defRPr>
    </a:lvl3pPr>
    <a:lvl4pPr marL="835579" algn="l" defTabSz="557052" rtl="0" eaLnBrk="1" latinLnBrk="0" hangingPunct="1">
      <a:defRPr sz="731" kern="1200">
        <a:solidFill>
          <a:schemeClr val="tx1"/>
        </a:solidFill>
        <a:latin typeface="+mn-lt"/>
        <a:ea typeface="+mn-ea"/>
        <a:cs typeface="+mn-cs"/>
      </a:defRPr>
    </a:lvl4pPr>
    <a:lvl5pPr marL="1114105" algn="l" defTabSz="557052" rtl="0" eaLnBrk="1" latinLnBrk="0" hangingPunct="1">
      <a:defRPr sz="731" kern="1200">
        <a:solidFill>
          <a:schemeClr val="tx1"/>
        </a:solidFill>
        <a:latin typeface="+mn-lt"/>
        <a:ea typeface="+mn-ea"/>
        <a:cs typeface="+mn-cs"/>
      </a:defRPr>
    </a:lvl5pPr>
    <a:lvl6pPr marL="1392631" algn="l" defTabSz="557052" rtl="0" eaLnBrk="1" latinLnBrk="0" hangingPunct="1">
      <a:defRPr sz="731" kern="1200">
        <a:solidFill>
          <a:schemeClr val="tx1"/>
        </a:solidFill>
        <a:latin typeface="+mn-lt"/>
        <a:ea typeface="+mn-ea"/>
        <a:cs typeface="+mn-cs"/>
      </a:defRPr>
    </a:lvl6pPr>
    <a:lvl7pPr marL="1671157" algn="l" defTabSz="557052" rtl="0" eaLnBrk="1" latinLnBrk="0" hangingPunct="1">
      <a:defRPr sz="731" kern="1200">
        <a:solidFill>
          <a:schemeClr val="tx1"/>
        </a:solidFill>
        <a:latin typeface="+mn-lt"/>
        <a:ea typeface="+mn-ea"/>
        <a:cs typeface="+mn-cs"/>
      </a:defRPr>
    </a:lvl7pPr>
    <a:lvl8pPr marL="1949684" algn="l" defTabSz="557052" rtl="0" eaLnBrk="1" latinLnBrk="0" hangingPunct="1">
      <a:defRPr sz="731" kern="1200">
        <a:solidFill>
          <a:schemeClr val="tx1"/>
        </a:solidFill>
        <a:latin typeface="+mn-lt"/>
        <a:ea typeface="+mn-ea"/>
        <a:cs typeface="+mn-cs"/>
      </a:defRPr>
    </a:lvl8pPr>
    <a:lvl9pPr marL="2228210" algn="l" defTabSz="557052" rtl="0" eaLnBrk="1" latinLnBrk="0" hangingPunct="1">
      <a:defRPr sz="731" kern="1200">
        <a:solidFill>
          <a:schemeClr val="tx1"/>
        </a:solidFill>
        <a:latin typeface="+mn-lt"/>
        <a:ea typeface="+mn-ea"/>
        <a:cs typeface="+mn-cs"/>
      </a:defRPr>
    </a:lvl9pPr>
  </p:notesStyle>
  <p:extLst>
    <p:ext uri="{620B2872-D7B9-4A21-9093-7833F8D536E1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451"/>
            <a:ext cx="5829300" cy="3449308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3778"/>
            <a:ext cx="5143500" cy="2392040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40858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2576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121" userDrawn="1">
          <p15:clr>
            <a:srgbClr val="FBAE40"/>
          </p15:clr>
        </p15:guide>
        <p15:guide id="2" pos="216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70019"/>
            <a:ext cx="5915025" cy="4121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30289"/>
            <a:ext cx="5915025" cy="2167284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37429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436"/>
            <a:ext cx="2914650" cy="62862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436"/>
            <a:ext cx="2914650" cy="62862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1834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90"/>
            <a:ext cx="5915025" cy="1915009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736"/>
            <a:ext cx="2901255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9022"/>
            <a:ext cx="2901255" cy="532303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736"/>
            <a:ext cx="2915543" cy="1190286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9022"/>
            <a:ext cx="2915543" cy="532303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437802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3515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53354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511"/>
            <a:ext cx="3471863" cy="704080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68084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506"/>
            <a:ext cx="2211884" cy="231177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511"/>
            <a:ext cx="3471863" cy="704080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zh-CN" altLang="en-US" dirty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2276"/>
            <a:ext cx="2211884" cy="5506510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239246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78913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87"/>
            <a:ext cx="1478756" cy="8396223"/>
          </a:xfrm>
        </p:spPr>
        <p:txBody>
          <a:bodyPr vert="eaVert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87"/>
            <a:ext cx="4350544" cy="8396223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59823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90"/>
            <a:ext cx="5915025" cy="191500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436"/>
            <a:ext cx="5915025" cy="62862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6C7FAE-7E99-46B1-9BBC-FD056C16CAC0}" type="datetimeFigureOut">
              <a:rPr lang="zh-CN" altLang="en-US" smtClean="0"/>
              <a:t>2025/12/20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2869"/>
            <a:ext cx="2314575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2869"/>
            <a:ext cx="1543050" cy="5274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970FC9-7A42-4F5F-9538-495B0EA7671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42970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23" r:id="rId1"/>
    <p:sldLayoutId id="2147483824" r:id="rId2"/>
    <p:sldLayoutId id="2147483825" r:id="rId3"/>
    <p:sldLayoutId id="2147483826" r:id="rId4"/>
    <p:sldLayoutId id="2147483827" r:id="rId5"/>
    <p:sldLayoutId id="2147483828" r:id="rId6"/>
    <p:sldLayoutId id="2147483829" r:id="rId7"/>
    <p:sldLayoutId id="2147483830" r:id="rId8"/>
    <p:sldLayoutId id="2147483831" r:id="rId9"/>
    <p:sldLayoutId id="2147483832" r:id="rId10"/>
    <p:sldLayoutId id="2147483833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121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A0E69ADA-487D-EE3A-4F9D-62A877D019FC}"/>
              </a:ext>
            </a:extLst>
          </p:cNvPr>
          <p:cNvSpPr txBox="1"/>
          <p:nvPr/>
        </p:nvSpPr>
        <p:spPr>
          <a:xfrm>
            <a:off x="-512384" y="20216917"/>
            <a:ext cx="7589881" cy="4297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320943"/>
            <a:r>
              <a:rPr lang="zh-CN" altLang="en-US" sz="2193" b="1" u="sng" kern="0">
                <a:latin typeface="楷体" panose="02010609060101010101" pitchFamily="49" charset="-122"/>
                <a:ea typeface="楷体" panose="02010609060101010101" pitchFamily="49" charset="-122"/>
              </a:rPr>
              <a:t>内部资料 请勿外传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2840F512-DEFA-3004-302D-B8DD9ECDE9F3}"/>
              </a:ext>
            </a:extLst>
          </p:cNvPr>
          <p:cNvSpPr/>
          <p:nvPr/>
        </p:nvSpPr>
        <p:spPr>
          <a:xfrm>
            <a:off x="-29963774" y="-21935746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DA59F38-B88A-B5F9-39F2-77D71E6BF571}"/>
              </a:ext>
            </a:extLst>
          </p:cNvPr>
          <p:cNvSpPr/>
          <p:nvPr/>
        </p:nvSpPr>
        <p:spPr>
          <a:xfrm>
            <a:off x="37047917" y="-21935746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6E22EF20-CBD7-BFFC-7693-D0A9973FB2BB}"/>
              </a:ext>
            </a:extLst>
          </p:cNvPr>
          <p:cNvSpPr/>
          <p:nvPr/>
        </p:nvSpPr>
        <p:spPr>
          <a:xfrm>
            <a:off x="-30755271" y="32085964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030CBEBA-DA7A-BD23-F6DA-16DC1B3DC1E6}"/>
              </a:ext>
            </a:extLst>
          </p:cNvPr>
          <p:cNvSpPr/>
          <p:nvPr/>
        </p:nvSpPr>
        <p:spPr>
          <a:xfrm>
            <a:off x="36256421" y="32085964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</p:spTree>
    <p:extLst>
      <p:ext uri="{BB962C8B-B14F-4D97-AF65-F5344CB8AC3E}">
        <p14:creationId xmlns:p14="http://schemas.microsoft.com/office/powerpoint/2010/main" val="11100861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175618-3A44-E6E7-E361-F05160879B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EF27E111-5ED0-4063-1EA1-D1A5A13EE118}"/>
              </a:ext>
            </a:extLst>
          </p:cNvPr>
          <p:cNvSpPr txBox="1"/>
          <p:nvPr/>
        </p:nvSpPr>
        <p:spPr>
          <a:xfrm>
            <a:off x="-512384" y="20216917"/>
            <a:ext cx="7589881" cy="4297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320943"/>
            <a:r>
              <a:rPr lang="zh-CN" altLang="en-US" sz="2193" b="1" u="sng" kern="0">
                <a:latin typeface="楷体" panose="02010609060101010101" pitchFamily="49" charset="-122"/>
                <a:ea typeface="楷体" panose="02010609060101010101" pitchFamily="49" charset="-122"/>
              </a:rPr>
              <a:t>内部资料 请勿外传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6066041C-A15C-4823-8843-4B3D33A1EC2A}"/>
              </a:ext>
            </a:extLst>
          </p:cNvPr>
          <p:cNvSpPr/>
          <p:nvPr/>
        </p:nvSpPr>
        <p:spPr>
          <a:xfrm>
            <a:off x="-29963774" y="-21935746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78CEC3E9-E014-DEDA-164D-956130F1EADE}"/>
              </a:ext>
            </a:extLst>
          </p:cNvPr>
          <p:cNvSpPr/>
          <p:nvPr/>
        </p:nvSpPr>
        <p:spPr>
          <a:xfrm>
            <a:off x="37047917" y="-21935746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DDD76DA9-CF4D-85F0-6FA5-73D20A19A840}"/>
              </a:ext>
            </a:extLst>
          </p:cNvPr>
          <p:cNvSpPr/>
          <p:nvPr/>
        </p:nvSpPr>
        <p:spPr>
          <a:xfrm>
            <a:off x="-30755271" y="32085964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3FFDE73E-6492-1712-931C-483307EAA7E1}"/>
              </a:ext>
            </a:extLst>
          </p:cNvPr>
          <p:cNvSpPr/>
          <p:nvPr/>
        </p:nvSpPr>
        <p:spPr>
          <a:xfrm>
            <a:off x="36256421" y="32085964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</p:spTree>
    <p:extLst>
      <p:ext uri="{BB962C8B-B14F-4D97-AF65-F5344CB8AC3E}">
        <p14:creationId xmlns:p14="http://schemas.microsoft.com/office/powerpoint/2010/main" val="19385625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545916-B417-FBE6-9550-EB54BB5B4D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1333171B-406A-70A0-219B-47447A1A7C4B}"/>
              </a:ext>
            </a:extLst>
          </p:cNvPr>
          <p:cNvSpPr txBox="1"/>
          <p:nvPr/>
        </p:nvSpPr>
        <p:spPr>
          <a:xfrm>
            <a:off x="-512384" y="20216917"/>
            <a:ext cx="7589881" cy="4297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320943"/>
            <a:r>
              <a:rPr lang="zh-CN" altLang="en-US" sz="2193" b="1" u="sng" kern="0">
                <a:latin typeface="楷体" panose="02010609060101010101" pitchFamily="49" charset="-122"/>
                <a:ea typeface="楷体" panose="02010609060101010101" pitchFamily="49" charset="-122"/>
              </a:rPr>
              <a:t>内部资料 请勿外传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BADCC659-4356-D892-DBD6-A961F9868671}"/>
              </a:ext>
            </a:extLst>
          </p:cNvPr>
          <p:cNvSpPr/>
          <p:nvPr/>
        </p:nvSpPr>
        <p:spPr>
          <a:xfrm>
            <a:off x="-29963774" y="-21935746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DEAFA0F9-43BE-8CAB-D91E-DB7445674AD8}"/>
              </a:ext>
            </a:extLst>
          </p:cNvPr>
          <p:cNvSpPr/>
          <p:nvPr/>
        </p:nvSpPr>
        <p:spPr>
          <a:xfrm>
            <a:off x="37047917" y="-21935746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C31FBBC2-656F-FF41-AA6D-B2880868B063}"/>
              </a:ext>
            </a:extLst>
          </p:cNvPr>
          <p:cNvSpPr/>
          <p:nvPr/>
        </p:nvSpPr>
        <p:spPr>
          <a:xfrm>
            <a:off x="-30755271" y="32085964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CC894982-5A2A-DAC3-5832-96F689727E1F}"/>
              </a:ext>
            </a:extLst>
          </p:cNvPr>
          <p:cNvSpPr/>
          <p:nvPr/>
        </p:nvSpPr>
        <p:spPr>
          <a:xfrm>
            <a:off x="36256421" y="32085964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</p:spTree>
    <p:extLst>
      <p:ext uri="{BB962C8B-B14F-4D97-AF65-F5344CB8AC3E}">
        <p14:creationId xmlns:p14="http://schemas.microsoft.com/office/powerpoint/2010/main" val="12227077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57496F-1C26-B56E-08FC-BC5E0E821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44E3DBC-021D-35FC-7158-7151E10C0F08}"/>
              </a:ext>
            </a:extLst>
          </p:cNvPr>
          <p:cNvSpPr txBox="1"/>
          <p:nvPr/>
        </p:nvSpPr>
        <p:spPr>
          <a:xfrm>
            <a:off x="-512384" y="20216917"/>
            <a:ext cx="7589881" cy="429798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 defTabSz="1320943"/>
            <a:r>
              <a:rPr lang="zh-CN" altLang="en-US" sz="2193" b="1" u="sng" kern="0">
                <a:latin typeface="楷体" panose="02010609060101010101" pitchFamily="49" charset="-122"/>
                <a:ea typeface="楷体" panose="02010609060101010101" pitchFamily="49" charset="-122"/>
              </a:rPr>
              <a:t>内部资料 请勿外传</a:t>
            </a: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313A76EE-C84C-E2C0-1279-28344C66C7F0}"/>
              </a:ext>
            </a:extLst>
          </p:cNvPr>
          <p:cNvSpPr/>
          <p:nvPr/>
        </p:nvSpPr>
        <p:spPr>
          <a:xfrm>
            <a:off x="-29963774" y="-21935746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AC3B96AA-196E-1312-D86E-E85AA039F43F}"/>
              </a:ext>
            </a:extLst>
          </p:cNvPr>
          <p:cNvSpPr/>
          <p:nvPr/>
        </p:nvSpPr>
        <p:spPr>
          <a:xfrm>
            <a:off x="37047917" y="-21935746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74F623FF-8869-4051-1791-853643B3B6DF}"/>
              </a:ext>
            </a:extLst>
          </p:cNvPr>
          <p:cNvSpPr/>
          <p:nvPr/>
        </p:nvSpPr>
        <p:spPr>
          <a:xfrm>
            <a:off x="-30755271" y="32085964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62872B6F-35AA-A7BF-2AB7-0CAB4CE94602}"/>
              </a:ext>
            </a:extLst>
          </p:cNvPr>
          <p:cNvSpPr/>
          <p:nvPr/>
        </p:nvSpPr>
        <p:spPr>
          <a:xfrm>
            <a:off x="36256421" y="32085964"/>
            <a:ext cx="5427400" cy="248755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6677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DC71A91-B13E-DD12-DEC4-574309A0397D}"/>
              </a:ext>
            </a:extLst>
          </p:cNvPr>
          <p:cNvSpPr txBox="1"/>
          <p:nvPr/>
        </p:nvSpPr>
        <p:spPr>
          <a:xfrm>
            <a:off x="0" y="0"/>
            <a:ext cx="6858000" cy="566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numpy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random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time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from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music21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metadata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stream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midi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converter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pitch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自动获取桌面路径（适配</a:t>
            </a: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Windows/macOS</a:t>
            </a:r>
            <a:r>
              <a:rPr lang="zh-CN" altLang="e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）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get_desktop_path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'nt'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Windows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.join(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.expanduser(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'~'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'Desktop'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macOS/Linux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expanduser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'~'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'Desktop'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动态随机种子（每次运行不同）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random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()))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random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()))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class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CMajorPentatonicMarkovGenerator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"""C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大调五声调式马尔可夫链旋律生成器（带概率文本输出）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__init__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C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大调五声调式音高（扩展八度）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pentatonic_pitches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'C3'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'D3'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'E3'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'G3'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'A3'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'C4'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'D4'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'E4'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'G4'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'A4'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'C5'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'D5'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'E5'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'G5'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'A5'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'C6'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'D6'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'E6'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'G6'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'A6'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扩展音符时长类型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common_durations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0.25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0.5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0.75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1.0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1.5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2.0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3.0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4.0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构建状态集（音高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时长）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pentatonic_pitches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common_durations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)}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)}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初始化概率矩阵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zeros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transition_matrix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zeros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)))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_is_pentatonic_note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note_obj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验证音符是否属于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大调五声调式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isinstance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note_obj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False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pitch_name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note_obj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pitch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nameWithOctave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base_pitch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pitch_name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[: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base_pitch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'C'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'D'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'E'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'G'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'A'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load_desktop_midi_corpus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自动加载桌面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MIDI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文件（过滤生成的文件）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get_desktop_path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corpus_dir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马尔可夫链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五声调式旋律生成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)'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exists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corpus_dir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FileNotFoundError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未找到文件夹：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corpus_dir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（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请确认文件夹在桌面）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过滤生成的</a:t>
            </a: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MIDI</a:t>
            </a:r>
            <a:r>
              <a:rPr lang="zh-CN" altLang="e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，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只训练原始数据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all_valid_notes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exclude_files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生成的五声调式旋律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mid"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"generated_melody.mid"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五声调式旋律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strftime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'%Y%m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_*.mid"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filename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listdir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corpus_dir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any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exclude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filename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exclude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exclude_files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continue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filename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endswith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'.mid'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filename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endswith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'.midi'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midi_path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corpus_dir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filename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midi_stream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converter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parse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midi_path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midi_stream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flat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notes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valid_notes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_is_pentatonic_note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all_valid_notes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extend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valid_notes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加载成功：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filename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 → 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提取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valid_notes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个有效音符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except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Exception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处理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filename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失败：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all_valid_notes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ValueError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未从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MIDI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文件中提取到有效五声调式音符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all_valid_notes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train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training_notes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训练模型（优化概率计算）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====================== 1.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计算初始概率 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======================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initial_count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zeros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training_notes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.pitch.nameWithOctave,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.duration.quarterLength)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initial_count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]]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概率平滑 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+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归一化（总和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=1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initial_count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initial_count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====================== 2.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计算转移概率 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======================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transition_count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zeros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training_notes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training_notes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training_notes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.pitch.nameWithOctave,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.duration.quarterLength)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.pitch.nameWithOctave,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.duration.quarterLength)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and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transition_count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转移概率平滑 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+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逐行归一化（每行总和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=1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transition_count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避免行和为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0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row_sums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transition_count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axis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errstate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divide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'ignore'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invalid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'ignore'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transition_matrix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transition_count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row_sums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[:,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====================== 3.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输出概率文本 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======================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_export_probability_text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_export_probability_text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将初始概率和转移概率导出为文本文件并打印关键信息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get_desktop_path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corpus_dir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马尔可夫链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五声调式旋律生成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)'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prob_file_path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corpus_dir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马尔可夫链概率分布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strftime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'%Y%m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_%H%M%S'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.txt"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with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open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prob_file_path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'w'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encoding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'utf-8'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写入初始概率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"="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初始概率分布（音高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时长 → 概率，总和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=1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en-US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"="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按概率从高到低排序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key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reverse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只写入概率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&gt;0.001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的状态（减少冗余）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initial_total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0.001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状态：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) → 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概率：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:.6f}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initial_total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显示的概率总和：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initial_total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:.6f}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（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剩余为低概率状态）</a:t>
            </a:r>
            <a:r>
              <a:rPr lang="en-US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初始概率总校验：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:.6f}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（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应为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en-US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写入转移概率（只写入非零且概率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&gt;0.01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的转移）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"="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转移概率分布（当前状态 → 下一个状态：概率，每行总和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=1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en-US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"="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只输出概率最高的前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个当前状态的转移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top_curr_states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argsort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)[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:][::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top_curr_states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transition_matrix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按转移概率排序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key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reverse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写入当前状态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当前状态：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) → 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转移路径：</a:t>
            </a:r>
            <a:r>
              <a:rPr lang="en-US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只写入概率</a:t>
            </a: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&gt;0.01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的转移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trans_total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0.01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 →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：概率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:.6f}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trans_total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 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该状态转移概率总和：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trans_total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:.6f}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（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剩余为低概率转移）</a:t>
            </a:r>
            <a:r>
              <a:rPr lang="en-US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write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 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该行总校验：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:.6f}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（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应为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en-US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控制台打印关键概率信息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"="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"【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初始概率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TOP10】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（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概率从高到低）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"="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key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reverse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)[: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. 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音高：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，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时长：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 → 概率：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:.4f}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"="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"【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转移概率示例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】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（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C5 1.5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拍的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TOP5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转移路径）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"="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target_state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"C5"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1.5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target_state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target_idx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target_state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transition_matrix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target_idx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key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reverse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)[: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. → 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音高：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，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时长：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 → 概率：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:.4f}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未找到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C5 1.5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拍的状态，显示概率最高状态的转移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top_idx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argmax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top_state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top_idx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transition_matrix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top_idx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key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lambda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],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reverse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)[: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最高概率状态：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top_state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top_state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的转移路径：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trans_sorted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. → 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音高：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，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时长：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 → 概率：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:.4f}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完整概率分布已保存到：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prob_file_path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"="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*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80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generate_melody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24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temperature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0.8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生成旋律（增加温度参数控制随机性）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raise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ValueError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旋律长度需大于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0"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生成起始状态（加入温度调整）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initial_probs_adjusted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power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temperature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initial_probs_adjusted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/=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initial_probs_adjusted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sum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start_idx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random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choice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initial_probs_adjusted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start_idx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生成后续状态（加入温度调整）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range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-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state_to_idx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transition_matrix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curr_idx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温度调整：让概率分布更分散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trans_probs_adjusted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power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temperature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trans_probs_adjusted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/=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trans_probs_adjusted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.sum()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random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choice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len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states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trans_probs_adjusted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append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idx_to_state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[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next_idx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])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return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melody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save_and_show_melody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self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output_name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保存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MIDI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（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每次生成不同文件名）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"""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生成唯一文件名（避免覆盖）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output_name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is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None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timestamp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strftime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"%Y%m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%d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_%H%M%S"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output_name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五声调式旋律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_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timestamp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.mid"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构建乐谱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score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stream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Score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title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"C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大调五声调式马尔可夫旋律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stream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Part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pitch_name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duration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append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Note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pitch_name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quarterLength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duration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score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append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保存</a:t>
            </a: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MIDI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get_desktop_path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corpus_dir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desktop_path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马尔可夫链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五声调式旋律生成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)'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output_path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os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join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corpus_dir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output_name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midi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.translate.streamToMidiFile(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score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.open(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output_path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'wb'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.write()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.close()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旋律已保存到：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output_path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打印旋律序列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生成的旋律序列（音高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+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时长）：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for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enumerate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第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i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个音符：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p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（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时长：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d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拍）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提示：如需可视化乐谱，可安装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MuseScore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并配置路径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b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b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-US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def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generator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CMajorPentatonicMarkovGenerator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加载训练数据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正在加载桌面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MIDI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数据集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..."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training_notes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generator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load_desktop_midi_corpus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训练模型（自动输出概率文本）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正在训练马尔可夫链模型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..."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generator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train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training_notes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自定义参数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请输入旋律长度（音符数量，建议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16-64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）：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&gt;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break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长度必须大于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0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！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except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ValueError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请输入有效的数字！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while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True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try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temperature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float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input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请输入随机性温度（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0.5-2.0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，越大越随机）：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0.1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temperature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&lt;=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B5CEA8"/>
                </a:solidFill>
                <a:effectLst/>
                <a:latin typeface="Menlo" panose="020B0609030804020204" pitchFamily="49" charset="0"/>
              </a:rPr>
              <a:t>5.0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break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else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温度请在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0.1-5.0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之间！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except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ValueError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请输入有效的数字！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-US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-US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生成旋律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D7BA7D"/>
                </a:solidFill>
                <a:effectLst/>
                <a:latin typeface="Menlo" panose="020B0609030804020204" pitchFamily="49" charset="0"/>
              </a:rPr>
              <a:t>\n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正在生成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个音符的旋律（温度</a:t>
            </a:r>
            <a:r>
              <a:rPr lang="en-US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temperature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zh-CN" altLang="e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）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..."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generated_melody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generator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generate_melody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length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,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temperature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temperature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保存结果</a:t>
            </a:r>
            <a:endParaRPr lang="zh-CN" altLang="en-US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generator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save_and_show_melody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generated_melody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except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Exception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as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f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zh-CN" altLang="en-US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程序出错：</a:t>
            </a:r>
            <a:r>
              <a:rPr lang="en-US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{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str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e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  <a:r>
              <a:rPr lang="en" altLang="zh-CN" sz="1200" b="0">
                <a:solidFill>
                  <a:srgbClr val="569CD6"/>
                </a:solidFill>
                <a:effectLst/>
                <a:latin typeface="Menlo" panose="020B0609030804020204" pitchFamily="49" charset="0"/>
              </a:rPr>
              <a:t>}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)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import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traceback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4EC9B0"/>
                </a:solidFill>
                <a:effectLst/>
                <a:latin typeface="Menlo" panose="020B0609030804020204" pitchFamily="49" charset="0"/>
              </a:rPr>
              <a:t>traceback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.</a:t>
            </a: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print_exc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  <a:p>
            <a:pPr>
              <a:lnSpc>
                <a:spcPts val="1350"/>
              </a:lnSpc>
              <a:buNone/>
            </a:pP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b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</a:b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C586C0"/>
                </a:solidFill>
                <a:effectLst/>
                <a:latin typeface="Menlo" panose="020B0609030804020204" pitchFamily="49" charset="0"/>
              </a:rPr>
              <a:t>if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9CDCFE"/>
                </a:solidFill>
                <a:effectLst/>
                <a:latin typeface="Menlo" panose="020B0609030804020204" pitchFamily="49" charset="0"/>
              </a:rPr>
              <a:t>__name__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D4D4D4"/>
                </a:solidFill>
                <a:effectLst/>
                <a:latin typeface="Menlo" panose="020B0609030804020204" pitchFamily="49" charset="0"/>
              </a:rPr>
              <a:t>==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 </a:t>
            </a:r>
            <a:r>
              <a:rPr lang="en" altLang="zh-CN" sz="1200" b="0">
                <a:solidFill>
                  <a:srgbClr val="CE9178"/>
                </a:solidFill>
                <a:effectLst/>
                <a:latin typeface="Menlo" panose="020B0609030804020204" pitchFamily="49" charset="0"/>
              </a:rPr>
              <a:t>"__main__"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:</a:t>
            </a: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# </a:t>
            </a:r>
            <a:r>
              <a:rPr lang="zh-CN" altLang="en-US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依赖安装：</a:t>
            </a:r>
            <a:r>
              <a:rPr lang="en" altLang="zh-CN" sz="1200" b="0">
                <a:solidFill>
                  <a:srgbClr val="6A9955"/>
                </a:solidFill>
                <a:effectLst/>
                <a:latin typeface="Menlo" panose="020B0609030804020204" pitchFamily="49" charset="0"/>
              </a:rPr>
              <a:t>pip install music21 numpy</a:t>
            </a:r>
            <a:endParaRPr lang="en" altLang="zh-CN" sz="1200" b="0">
              <a:solidFill>
                <a:srgbClr val="CCCCCC"/>
              </a:solidFill>
              <a:effectLst/>
              <a:latin typeface="Menlo" panose="020B0609030804020204" pitchFamily="49" charset="0"/>
            </a:endParaRPr>
          </a:p>
          <a:p>
            <a:pPr>
              <a:lnSpc>
                <a:spcPts val="1350"/>
              </a:lnSpc>
              <a:buNone/>
            </a:pPr>
            <a:r>
              <a:rPr lang="en" altLang="zh-CN" sz="1200" b="0">
                <a:solidFill>
                  <a:srgbClr val="DCDCAA"/>
                </a:solidFill>
                <a:effectLst/>
                <a:latin typeface="Menlo" panose="020B0609030804020204" pitchFamily="49" charset="0"/>
              </a:rPr>
              <a:t>main</a:t>
            </a:r>
            <a:r>
              <a:rPr lang="en" altLang="zh-CN" sz="1200" b="0">
                <a:solidFill>
                  <a:srgbClr val="CCCCCC"/>
                </a:solidFill>
                <a:effectLst/>
                <a:latin typeface="Menlo" panose="020B0609030804020204" pitchFamily="49" charset="0"/>
              </a:rPr>
              <a:t>()</a:t>
            </a:r>
          </a:p>
        </p:txBody>
      </p:sp>
    </p:spTree>
    <p:extLst>
      <p:ext uri="{BB962C8B-B14F-4D97-AF65-F5344CB8AC3E}">
        <p14:creationId xmlns:p14="http://schemas.microsoft.com/office/powerpoint/2010/main" val="1355290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16819</TotalTime>
  <Words>3284</Words>
  <Application>Microsoft Macintosh PowerPoint</Application>
  <PresentationFormat>自定义</PresentationFormat>
  <Paragraphs>287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11" baseType="lpstr">
      <vt:lpstr>楷体</vt:lpstr>
      <vt:lpstr>等线</vt:lpstr>
      <vt:lpstr>Aptos</vt:lpstr>
      <vt:lpstr>Aptos Display</vt:lpstr>
      <vt:lpstr>Arial</vt:lpstr>
      <vt:lpstr>Menlo</vt:lpstr>
      <vt:lpstr>Office Theme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Bertram Eden</dc:creator>
  <cp:lastModifiedBy>雅坤 刘k</cp:lastModifiedBy>
  <cp:revision>168</cp:revision>
  <dcterms:created xsi:type="dcterms:W3CDTF">2024-03-14T10:10:51Z</dcterms:created>
  <dcterms:modified xsi:type="dcterms:W3CDTF">2025-12-20T13:08:59Z</dcterms:modified>
</cp:coreProperties>
</file>